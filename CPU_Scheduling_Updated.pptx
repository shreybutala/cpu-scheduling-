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github_qr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457200"/>
            <a:ext cx="1645920" cy="164592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822960"/>
            <a:ext cx="914400" cy="9144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474720"/>
            <a:ext cx="1097280" cy="109728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Scheduling &amp;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Tool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3200400" y="269748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Educational Tool for Algorithm Comparison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3429000"/>
            <a:ext cx="6400800" cy="1188720"/>
          </a:xfrm>
          <a:prstGeom prst="rect">
            <a:avLst/>
          </a:prstGeom>
          <a:solidFill>
            <a:srgbClr val="1628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5204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37673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 Butala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 240170116006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40416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Jenil Bharoliya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 240170116004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Selected This Project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0233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402336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070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Why This Topic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" y="175564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190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Scheduling is a core OS concept taught abstractly in classrooms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" y="237744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408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computing Gantt charts is time-consuming and error-prone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" y="299923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96265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open-source C-based tool to simulate and compare all algorithms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362102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5844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grasp performance trade-offs between algorithms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1188720"/>
            <a:ext cx="40233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188720"/>
            <a:ext cx="40233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2070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Our Motivation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19472" y="1764792"/>
            <a:ext cx="201168" cy="2011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0368" y="172821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wanted hands-on implementation of OS scheduling in pure 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19472" y="2386584"/>
            <a:ext cx="201168" cy="2011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23500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all 5 scheduling algorithms with Gantt chart output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19472" y="3008376"/>
            <a:ext cx="201168" cy="2011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2971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language enforces deeper understanding of memory and data structures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19472" y="3630168"/>
            <a:ext cx="201168" cy="2011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35935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gap between OS theory and systems-level programming practice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</a:rPr>
              <a:t>TOOLS &amp; TERMINOLOGIES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3931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</a:rPr>
              <a:t>Technologies, Concepts &amp; Data Structures</a:t>
            </a:r>
          </a:p>
        </p:txBody>
      </p:sp>
      <p:sp>
        <p:nvSpPr>
          <p:cNvPr id="10" name="LeftCard"/>
          <p:cNvSpPr/>
          <p:nvPr/>
        </p:nvSpPr>
        <p:spPr>
          <a:xfrm>
            <a:off x="228600" y="1010000"/>
            <a:ext cx="4114800" cy="3600000"/>
          </a:xfrm>
          <a:prstGeom prst="rect">
            <a:avLst/>
          </a:prstGeom>
          <a:solidFill>
            <a:srgbClr val="162840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11" name="LeftHeader"/>
          <p:cNvSpPr/>
          <p:nvPr/>
        </p:nvSpPr>
        <p:spPr>
          <a:xfrm>
            <a:off x="228600" y="1010000"/>
            <a:ext cx="41148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LeftTitle"/>
          <p:cNvSpPr/>
          <p:nvPr/>
        </p:nvSpPr>
        <p:spPr>
          <a:xfrm>
            <a:off x="320040" y="1060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</a:rPr>
              <a:t>Tools Used</a:t>
            </a:r>
          </a:p>
        </p:txBody>
      </p:sp>
      <p:sp>
        <p:nvSpPr>
          <p:cNvPr id="13" name="LeftContent"/>
          <p:cNvSpPr/>
          <p:nvPr/>
        </p:nvSpPr>
        <p:spPr>
          <a:xfrm>
            <a:off x="320040" y="1420000"/>
            <a:ext cx="3931920" cy="3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</a:rPr>
              <a:t xml:space="preserve">Language: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C (Standard Library only)</a:t>
            </a:r>
          </a:p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</a:rPr>
              <a:t xml:space="preserve">Compiler: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GCC (GNU Compiler Collection)</a:t>
            </a:r>
          </a:p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</a:rPr>
              <a:t xml:space="preserve">IDE/Editor: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VS Code / Code::Blocks</a:t>
            </a:r>
          </a:p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</a:rPr>
              <a:t xml:space="preserve">Platform: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Cross-platform (Linux / Windows)</a:t>
            </a:r>
          </a:p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</a:rPr>
              <a:t xml:space="preserve">Version Control: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Git &amp; GitHub</a:t>
            </a:r>
          </a:p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</a:rPr>
              <a:t xml:space="preserve">Interface: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Console-based (stdin/stdout)</a:t>
            </a:r>
          </a:p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</a:rPr>
              <a:t xml:space="preserve">Data Structures: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</a:rPr>
              <a:t>Arrays, structs, sorting algorithms</a:t>
            </a:r>
          </a:p>
        </p:txBody>
      </p:sp>
      <p:sp>
        <p:nvSpPr>
          <p:cNvPr id="20" name="RightCard"/>
          <p:cNvSpPr/>
          <p:nvPr/>
        </p:nvSpPr>
        <p:spPr>
          <a:xfrm>
            <a:off x="4800600" y="1010000"/>
            <a:ext cx="4114800" cy="36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1" name="RightHeader"/>
          <p:cNvSpPr/>
          <p:nvPr/>
        </p:nvSpPr>
        <p:spPr>
          <a:xfrm>
            <a:off x="4800600" y="1010000"/>
            <a:ext cx="41148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RightTitle"/>
          <p:cNvSpPr/>
          <p:nvPr/>
        </p:nvSpPr>
        <p:spPr>
          <a:xfrm>
            <a:off x="4892040" y="1060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</a:rPr>
              <a:t>Key Terminologies</a:t>
            </a:r>
          </a:p>
        </p:txBody>
      </p:sp>
      <p:sp>
        <p:nvSpPr>
          <p:cNvPr id="23" name="RightContent"/>
          <p:cNvSpPr/>
          <p:nvPr/>
        </p:nvSpPr>
        <p:spPr>
          <a:xfrm>
            <a:off x="4892040" y="1420000"/>
            <a:ext cx="3931920" cy="3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  <a:latin typeface="Calibri" pitchFamily="34" charset="0"/>
              </a:rPr>
              <a:t xml:space="preserve">Burst Time: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</a:rPr>
              <a:t>CPU time required by a process</a:t>
            </a:r>
          </a:p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  <a:latin typeface="Calibri" pitchFamily="34" charset="0"/>
              </a:rPr>
              <a:t xml:space="preserve">Arrival Time: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</a:rPr>
              <a:t>When a process enters the ready queue</a:t>
            </a:r>
          </a:p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  <a:latin typeface="Calibri" pitchFamily="34" charset="0"/>
              </a:rPr>
              <a:t xml:space="preserve">Waiting Time: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</a:rPr>
              <a:t>Time spent waiting for CPU allocation</a:t>
            </a:r>
          </a:p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  <a:latin typeface="Calibri" pitchFamily="34" charset="0"/>
              </a:rPr>
              <a:t xml:space="preserve">Turnaround Time: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</a:rPr>
              <a:t>Total time from arrival to completion</a:t>
            </a:r>
          </a:p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  <a:latin typeface="Calibri" pitchFamily="34" charset="0"/>
              </a:rPr>
              <a:t xml:space="preserve">Gantt Chart: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</a:rPr>
              <a:t>Timeline showing process execution order</a:t>
            </a:r>
          </a:p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  <a:latin typeface="Calibri" pitchFamily="34" charset="0"/>
              </a:rPr>
              <a:t xml:space="preserve">Preemption: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</a:rPr>
              <a:t>Forcefully interrupting a running process</a:t>
            </a:r>
          </a:p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  <a:latin typeface="Calibri" pitchFamily="34" charset="0"/>
              </a:rPr>
              <a:t xml:space="preserve">Time Quantum: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</a:rPr>
              <a:t>Fixed time slice used in Round Robin</a:t>
            </a:r>
          </a:p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  <a:latin typeface="Calibri" pitchFamily="34" charset="0"/>
              </a:rPr>
              <a:t xml:space="preserve">struct: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</a:rPr>
              <a:t>C data structure used to model each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EXPLANATION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931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CPU Scheduling Visualizer Works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24912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2724912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98448"/>
            <a:ext cx="502920" cy="5029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2984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773936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Arrival, burst, and priority times entered via intuitive console interface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82112" y="1115568"/>
            <a:ext cx="2724912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115568"/>
            <a:ext cx="2724912" cy="6400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9272" y="1298448"/>
            <a:ext cx="502920" cy="50292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13632" y="12984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773936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timeline visualization for each algorithm with idle CPU support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9904" y="1115568"/>
            <a:ext cx="2724912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1115568"/>
            <a:ext cx="272491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7064" y="129844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7064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21424" y="12984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9632" y="1773936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calculation of average waiting time per algorithm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944368"/>
            <a:ext cx="2724912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44368"/>
            <a:ext cx="2724912" cy="6400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127248"/>
            <a:ext cx="502920" cy="50292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31272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" y="3602736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average turnaround time computed for all 5 algorithms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82112" y="2944368"/>
            <a:ext cx="2724912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82112" y="2944368"/>
            <a:ext cx="2724912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9272" y="3127248"/>
            <a:ext cx="502920" cy="5029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9272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913632" y="31272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91840" y="3602736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performance metrics across all scheduling algorithms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89904" y="2944368"/>
            <a:ext cx="2724912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96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9904" y="2944368"/>
            <a:ext cx="2724912" cy="6400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27064" y="3127248"/>
            <a:ext cx="502920" cy="50292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27064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☕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21424" y="31272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99632" y="3602736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libraries — built entirely on C standard library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</a:rPr>
              <a:t>ADVANTAGES &amp; DISADVANTAGES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Strengths and Limitations of the Tool</a:t>
            </a:r>
          </a:p>
        </p:txBody>
      </p:sp>
      <p:sp>
        <p:nvSpPr>
          <p:cNvPr id="10" name="AdvCard"/>
          <p:cNvSpPr/>
          <p:nvPr/>
        </p:nvSpPr>
        <p:spPr>
          <a:xfrm>
            <a:off x="320040" y="1188720"/>
            <a:ext cx="40233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AdvHeader"/>
          <p:cNvSpPr/>
          <p:nvPr/>
        </p:nvSpPr>
        <p:spPr>
          <a:xfrm>
            <a:off x="320040" y="1188720"/>
            <a:ext cx="402336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AdvTitle"/>
          <p:cNvSpPr/>
          <p:nvPr/>
        </p:nvSpPr>
        <p:spPr>
          <a:xfrm>
            <a:off x="411480" y="12070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Advantages</a:t>
            </a:r>
          </a:p>
        </p:txBody>
      </p:sp>
      <p:sp>
        <p:nvSpPr>
          <p:cNvPr id="13" name="AdvContent"/>
          <p:cNvSpPr/>
          <p:nvPr/>
        </p:nvSpPr>
        <p:spPr>
          <a:xfrm>
            <a:off x="411480" y="1600000"/>
            <a:ext cx="3840480" cy="29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</a:rPr>
              <a:t>+ Zero external dependencies (pure C)</a:t>
            </a:r>
          </a:p>
          <a:p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</a:rPr>
              <a:t>+ Runs on any system with a C compiler</a:t>
            </a:r>
          </a:p>
          <a:p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</a:rPr>
              <a:t>+ Simulates all 5 major algorithms</a:t>
            </a:r>
          </a:p>
          <a:p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</a:rPr>
              <a:t>+ Generates Gantt chart with idle CPU slots</a:t>
            </a:r>
          </a:p>
          <a:p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</a:rPr>
              <a:t>+ Side-by-side performance comparison table</a:t>
            </a:r>
          </a:p>
          <a:p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</a:rPr>
              <a:t>+ Instant results — no manual calculation</a:t>
            </a:r>
          </a:p>
          <a:p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</a:rPr>
              <a:t>+ Clean, modular and commented code</a:t>
            </a:r>
          </a:p>
        </p:txBody>
      </p:sp>
      <p:sp>
        <p:nvSpPr>
          <p:cNvPr id="20" name="DisadvCard"/>
          <p:cNvSpPr/>
          <p:nvPr/>
        </p:nvSpPr>
        <p:spPr>
          <a:xfrm>
            <a:off x="4800600" y="1188720"/>
            <a:ext cx="40233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1" name="DisadvHeader"/>
          <p:cNvSpPr/>
          <p:nvPr/>
        </p:nvSpPr>
        <p:spPr>
          <a:xfrm>
            <a:off x="4800600" y="1188720"/>
            <a:ext cx="40233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DisadvTitle"/>
          <p:cNvSpPr/>
          <p:nvPr/>
        </p:nvSpPr>
        <p:spPr>
          <a:xfrm>
            <a:off x="4892040" y="12070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</a:rPr>
              <a:t>Disadvantages</a:t>
            </a:r>
          </a:p>
        </p:txBody>
      </p:sp>
      <p:sp>
        <p:nvSpPr>
          <p:cNvPr id="23" name="DisadvContent"/>
          <p:cNvSpPr/>
          <p:nvPr/>
        </p:nvSpPr>
        <p:spPr>
          <a:xfrm>
            <a:off x="4892040" y="1600000"/>
            <a:ext cx="3840480" cy="29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77B6"/>
                </a:solidFill>
                <a:latin typeface="Calibri" pitchFamily="34" charset="0"/>
              </a:rPr>
              <a:t>- Console-only: no GUI/graphical output</a:t>
            </a:r>
          </a:p>
          <a:p>
            <a:pPr indent="0" marL="0">
              <a:buNone/>
            </a:pPr>
            <a:r>
              <a:rPr lang="en-US" sz="1150" dirty="0">
                <a:solidFill>
                  <a:srgbClr val="0077B6"/>
                </a:solidFill>
                <a:latin typeface="Calibri" pitchFamily="34" charset="0"/>
              </a:rPr>
              <a:t>- Fixed number of processes per run</a:t>
            </a:r>
          </a:p>
          <a:p>
            <a:pPr indent="0" marL="0">
              <a:buNone/>
            </a:pPr>
            <a:r>
              <a:rPr lang="en-US" sz="1150" dirty="0">
                <a:solidFill>
                  <a:srgbClr val="0077B6"/>
                </a:solidFill>
                <a:latin typeface="Calibri" pitchFamily="34" charset="0"/>
              </a:rPr>
              <a:t>- No file I/O: all input is entered manually</a:t>
            </a:r>
          </a:p>
          <a:p>
            <a:pPr indent="0" marL="0">
              <a:buNone/>
            </a:pPr>
            <a:r>
              <a:rPr lang="en-US" sz="1150" dirty="0">
                <a:solidFill>
                  <a:srgbClr val="0077B6"/>
                </a:solidFill>
                <a:latin typeface="Calibri" pitchFamily="34" charset="0"/>
              </a:rPr>
              <a:t>- No real-time or multi-core simulation</a:t>
            </a:r>
          </a:p>
          <a:p>
            <a:pPr indent="0" marL="0">
              <a:buNone/>
            </a:pPr>
            <a:r>
              <a:rPr lang="en-US" sz="1150" dirty="0">
                <a:solidFill>
                  <a:srgbClr val="0077B6"/>
                </a:solidFill>
                <a:latin typeface="Calibri" pitchFamily="34" charset="0"/>
              </a:rPr>
              <a:t>- C lacks built-in data structure libraries</a:t>
            </a:r>
          </a:p>
          <a:p>
            <a:pPr indent="0" marL="0">
              <a:buNone/>
            </a:pPr>
            <a:r>
              <a:rPr lang="en-US" sz="1150" dirty="0">
                <a:solidFill>
                  <a:srgbClr val="0077B6"/>
                </a:solidFill>
                <a:latin typeface="Calibri" pitchFamily="34" charset="0"/>
              </a:rPr>
              <a:t>- No persistent result export (no file save)</a:t>
            </a:r>
          </a:p>
          <a:p>
            <a:pPr indent="0" marL="0">
              <a:buNone/>
            </a:pPr>
            <a:r>
              <a:rPr lang="en-US" sz="1150" dirty="0">
                <a:solidFill>
                  <a:srgbClr val="0077B6"/>
                </a:solidFill>
                <a:latin typeface="Calibri" pitchFamily="34" charset="0"/>
              </a:rPr>
              <a:t>- Manual memory management increases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</a:rPr>
              <a:t>OUT-OF-THE-BOX THINKING &amp; CONCLUSION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3931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How Our Project Stands Apart</a:t>
            </a:r>
          </a:p>
        </p:txBody>
      </p:sp>
      <p:sp>
        <p:nvSpPr>
          <p:cNvPr id="10" name="DiffCard"/>
          <p:cNvSpPr/>
          <p:nvPr/>
        </p:nvSpPr>
        <p:spPr>
          <a:xfrm>
            <a:off x="228600" y="1010000"/>
            <a:ext cx="4114800" cy="3600000"/>
          </a:xfrm>
          <a:prstGeom prst="rect">
            <a:avLst/>
          </a:prstGeom>
          <a:solidFill>
            <a:srgbClr val="162840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11" name="DiffHeader"/>
          <p:cNvSpPr/>
          <p:nvPr/>
        </p:nvSpPr>
        <p:spPr>
          <a:xfrm>
            <a:off x="228600" y="1010000"/>
            <a:ext cx="41148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DiffTitle"/>
          <p:cNvSpPr/>
          <p:nvPr/>
        </p:nvSpPr>
        <p:spPr>
          <a:xfrm>
            <a:off x="320040" y="1055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</a:rPr>
              <a:t>What Makes Us Different</a:t>
            </a:r>
          </a:p>
        </p:txBody>
      </p:sp>
      <p:sp>
        <p:nvSpPr>
          <p:cNvPr id="13" name="DiffContent"/>
          <p:cNvSpPr/>
          <p:nvPr/>
        </p:nvSpPr>
        <p:spPr>
          <a:xfrm>
            <a:off x="320040" y="1410000"/>
            <a:ext cx="3931920" cy="3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</a:rPr>
              <a:t xml:space="preserve">C-Language Implementation: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Most similar tools use Python or Java; using C gives deeper OS-level insight and mirrors how real schedulers work internally.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/>
            </a:r>
          </a:p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</a:rPr>
              <a:t xml:space="preserve">Idle CPU Detection: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Rare in student projects; our Gantt chart explicitly shows CPU idle periods for realistic simulation.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/>
            </a:r>
          </a:p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</a:rPr>
              <a:t xml:space="preserve">Unified Comparison Engine: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All 5 algorithms run on the same input set enabling true side-by-side performance benchmarking.</a:t>
            </a:r>
          </a:p>
        </p:txBody>
      </p:sp>
      <p:sp>
        <p:nvSpPr>
          <p:cNvPr id="20" name="ConcCard"/>
          <p:cNvSpPr/>
          <p:nvPr/>
        </p:nvSpPr>
        <p:spPr>
          <a:xfrm>
            <a:off x="4800600" y="1010000"/>
            <a:ext cx="4114800" cy="36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1" name="ConcHeader"/>
          <p:cNvSpPr/>
          <p:nvPr/>
        </p:nvSpPr>
        <p:spPr>
          <a:xfrm>
            <a:off x="4800600" y="1010000"/>
            <a:ext cx="41148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ConcTitle"/>
          <p:cNvSpPr/>
          <p:nvPr/>
        </p:nvSpPr>
        <p:spPr>
          <a:xfrm>
            <a:off x="4892040" y="1055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</a:rPr>
              <a:t>Conclusion</a:t>
            </a:r>
          </a:p>
        </p:txBody>
      </p:sp>
      <p:sp>
        <p:nvSpPr>
          <p:cNvPr id="23" name="ConcContent"/>
          <p:cNvSpPr/>
          <p:nvPr/>
        </p:nvSpPr>
        <p:spPr>
          <a:xfrm>
            <a:off x="4892040" y="1410000"/>
            <a:ext cx="3931920" cy="3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</a:rPr>
              <a:t>This project successfully delivers a complete, working CPU Scheduling Visualization Tool built entirely in C.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</a:rPr>
              <a:t/>
            </a:r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</a:rPr>
              <a:t>It simulates FCFS, SJF, SRTF, Round Robin, and Priority Scheduling — helping students visually understand core OS concepts.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</a:rPr>
              <a:t/>
            </a:r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</a:rPr>
              <a:t>The use of C enforces low-level thinking, making this more than just a simulation — it is a systems programming exercise in its own right.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</a:rPr>
              <a:t/>
            </a:r>
          </a:p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</a:rPr>
              <a:t xml:space="preserve">Presented by: 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</a:rPr>
              <a:t>Shrey Butala (240170116006) &amp; Jenil Bharoliya (240170116004)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</a:rPr>
              <a:t>PROJECT LINKS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3931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</a:rPr>
              <a:t>Scan to Access Our GitHub Repository</a:t>
            </a:r>
          </a:p>
        </p:txBody>
      </p:sp>
      <p:sp>
        <p:nvSpPr>
          <p:cNvPr id="30" name="QRCard"/>
          <p:cNvSpPr/>
          <p:nvPr/>
        </p:nvSpPr>
        <p:spPr>
          <a:xfrm>
            <a:off x="2400000" y="1050000"/>
            <a:ext cx="4344000" cy="3700000"/>
          </a:xfrm>
          <a:prstGeom prst="rect">
            <a:avLst/>
          </a:prstGeom>
          <a:solidFill>
            <a:srgbClr val="162840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31" name="QRCardAccent"/>
          <p:cNvSpPr/>
          <p:nvPr/>
        </p:nvSpPr>
        <p:spPr>
          <a:xfrm>
            <a:off x="2400000" y="1050000"/>
            <a:ext cx="43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GitHubLabel"/>
          <p:cNvSpPr/>
          <p:nvPr/>
        </p:nvSpPr>
        <p:spPr>
          <a:xfrm>
            <a:off x="2400000" y="1110000"/>
            <a:ext cx="43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</a:rPr>
              <a:t>GitHub Repository</a:t>
            </a:r>
          </a:p>
        </p:txBody>
      </p:sp>
      <p:pic>
        <p:nvPicPr>
          <p:cNvPr id="50" name="QR Code"/>
          <p:cNvPicPr/>
          <p:nvPr/>
        </p:nvPicPr>
        <p:blipFill>
          <a:blip r:embed="rId2"/>
          <a:stretch>
            <a:fillRect/>
          </a:stretch>
        </p:blipFill>
        <p:spPr>
          <a:xfrm>
            <a:off x="2700000" y="1500000"/>
            <a:ext cx="3744000" cy="2970000"/>
          </a:xfrm>
          <a:prstGeom prst="rect">
            <a:avLst/>
          </a:prstGeom>
        </p:spPr>
      </p:pic>
      <p:sp>
        <p:nvSpPr>
          <p:cNvPr id="60" name="InstructionText"/>
          <p:cNvSpPr/>
          <p:nvPr/>
        </p:nvSpPr>
        <p:spPr>
          <a:xfrm>
            <a:off x="365760" y="4810000"/>
            <a:ext cx="841248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A9A"/>
                </a:solidFill>
                <a:latin typeface="Calibri" pitchFamily="34" charset="0"/>
              </a:rPr>
              <a:t>Shrey Butala — 240170116006     |     Jenil Bharoliya — 240170116004     |     Operating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Scheduling &amp; Visualization Tool</dc:title>
  <dc:subject>PptxGenJS Presentation</dc:subject>
  <dc:creator>PptxGenJS</dc:creator>
  <cp:lastModifiedBy>PptxGenJS</cp:lastModifiedBy>
  <cp:revision>1</cp:revision>
  <dcterms:created xsi:type="dcterms:W3CDTF">2026-03-13T16:26:55Z</dcterms:created>
  <dcterms:modified xsi:type="dcterms:W3CDTF">2026-03-13T16:26:55Z</dcterms:modified>
</cp:coreProperties>
</file>